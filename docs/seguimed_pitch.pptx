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outputs/seguimed_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49040" y="411480"/>
            <a:ext cx="1645920" cy="1645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21945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</a:t>
            </a:r>
            <a:pPr algn="ctr" indent="0" marL="0">
              <a:buNone/>
            </a:pPr>
            <a:r>
              <a:rPr lang="en-US" sz="640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400" dirty="0"/>
          </a:p>
        </p:txBody>
      </p:sp>
      <p:sp>
        <p:nvSpPr>
          <p:cNvPr id="4" name="Text 1"/>
          <p:cNvSpPr/>
          <p:nvPr/>
        </p:nvSpPr>
        <p:spPr>
          <a:xfrm>
            <a:off x="1371600" y="315468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2D5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REVOLUCIONANDO EL SEGUIMIENTO MÉDICO DIGITAL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3703320"/>
            <a:ext cx="8046720" cy="914400"/>
          </a:xfrm>
          <a:prstGeom prst="roundRect">
            <a:avLst>
              <a:gd name="adj" fmla="val 15000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3730752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inteligente para médicos independientes en LatAm que automatiza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seguimiento de pacientes por WhatsApp con 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outputs/seguimed_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8600" y="13716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2860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Founder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274320" y="10058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Mayra Otiniano Alvarado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274320" y="15087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del Pacífico — Data Science con Python 2026-I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github.com/MayraOA  ·  seguimed.streamlit.app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274320" y="21488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yo?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74320" y="2514600"/>
            <a:ext cx="5303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5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directo al segmento: familiar médico independiente en Lima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5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Formación en LLMs, agentes de IA, OCR y despliegue en la nube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5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completo construido y desplegado en 11 días como solo founder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806440" y="914400"/>
            <a:ext cx="1371600" cy="1600200"/>
          </a:xfrm>
          <a:prstGeom prst="roundRect">
            <a:avLst>
              <a:gd name="adj" fmla="val 8000"/>
            </a:avLst>
          </a:prstGeom>
          <a:solidFill>
            <a:srgbClr val="E1F5EE"/>
          </a:solidFill>
          <a:ln w="6350">
            <a:solidFill>
              <a:srgbClr val="C5E8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97880" y="1005840"/>
            <a:ext cx="457200" cy="347472"/>
          </a:xfrm>
          <a:prstGeom prst="roundRect">
            <a:avLst>
              <a:gd name="adj" fmla="val 18421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97880" y="100584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806440" y="1463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806440" y="18288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5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D5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CTO virtual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315200" y="914400"/>
            <a:ext cx="1371600" cy="1600200"/>
          </a:xfrm>
          <a:prstGeom prst="roundRect">
            <a:avLst>
              <a:gd name="adj" fmla="val 8000"/>
            </a:avLst>
          </a:prstGeom>
          <a:solidFill>
            <a:srgbClr val="E1F5EE"/>
          </a:solidFill>
          <a:ln w="6350">
            <a:solidFill>
              <a:srgbClr val="C5E8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406640" y="1005840"/>
            <a:ext cx="457200" cy="347472"/>
          </a:xfrm>
          <a:prstGeom prst="roundRect">
            <a:avLst>
              <a:gd name="adj" fmla="val 18421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06640" y="100584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0" y="1463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0" y="18288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5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+ Whisper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D5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stack IA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806440" y="2743200"/>
            <a:ext cx="1371600" cy="1600200"/>
          </a:xfrm>
          <a:prstGeom prst="roundRect">
            <a:avLst>
              <a:gd name="adj" fmla="val 8000"/>
            </a:avLst>
          </a:prstGeom>
          <a:solidFill>
            <a:srgbClr val="E1F5EE"/>
          </a:solidFill>
          <a:ln w="6350">
            <a:solidFill>
              <a:srgbClr val="C5E8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897880" y="2834640"/>
            <a:ext cx="457200" cy="347472"/>
          </a:xfrm>
          <a:prstGeom prst="roundRect">
            <a:avLst>
              <a:gd name="adj" fmla="val 18421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97880" y="283464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806440" y="32918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06440" y="36576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5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teal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D5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ámbar propio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315200" y="2743200"/>
            <a:ext cx="1371600" cy="1600200"/>
          </a:xfrm>
          <a:prstGeom prst="roundRect">
            <a:avLst>
              <a:gd name="adj" fmla="val 8000"/>
            </a:avLst>
          </a:prstGeom>
          <a:solidFill>
            <a:srgbClr val="E1F5EE"/>
          </a:solidFill>
          <a:ln w="6350">
            <a:solidFill>
              <a:srgbClr val="C5E8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406640" y="2834640"/>
            <a:ext cx="457200" cy="347472"/>
          </a:xfrm>
          <a:prstGeom prst="roundRect">
            <a:avLst>
              <a:gd name="adj" fmla="val 18421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06640" y="283464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315200" y="32918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315200" y="36576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5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médica directa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D5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familiar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outputs/seguimed_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8600" y="13716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1828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</a:t>
            </a:r>
            <a:pPr algn="ctr" indent="0" marL="0">
              <a:buNone/>
            </a:pPr>
            <a:r>
              <a:rPr lang="en-US" sz="400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411480" y="1097280"/>
            <a:ext cx="2560320" cy="365760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6350">
            <a:solidFill>
              <a:srgbClr val="D4E8D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05840" y="1325880"/>
            <a:ext cx="1371600" cy="1097280"/>
          </a:xfrm>
          <a:prstGeom prst="roundRect">
            <a:avLst>
              <a:gd name="adj" fmla="val 11667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132588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3/5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02920" y="25603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perdieron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3383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 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entrevistas directas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91840" y="1097280"/>
            <a:ext cx="2560320" cy="365760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6350">
            <a:solidFill>
              <a:srgbClr val="D4E8D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886200" y="1325880"/>
            <a:ext cx="1371600" cy="1097280"/>
          </a:xfrm>
          <a:prstGeom prst="roundRect">
            <a:avLst>
              <a:gd name="adj" fmla="val 11667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886200" y="132588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h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383280" y="25603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semana en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mensajes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383280" y="3383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que no los pierde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 este costo en tiempo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172200" y="1097280"/>
            <a:ext cx="2560320" cy="365760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6350">
            <a:solidFill>
              <a:srgbClr val="D4E8D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766560" y="1325880"/>
            <a:ext cx="1371600" cy="1097280"/>
          </a:xfrm>
          <a:prstGeom prst="roundRect">
            <a:avLst>
              <a:gd name="adj" fmla="val 11667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66560" y="132588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6263640" y="25603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con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dedicado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263640" y="3383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 Gmail, memoria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simplemente nada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no es que no respondan — todos responden. El problema es que nadie inicia el contacto cuando el paciente desaparece.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outputs/seguimed_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8600" y="13716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2860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e Insight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274320" y="1005840"/>
            <a:ext cx="3931920" cy="3840480"/>
          </a:xfrm>
          <a:prstGeom prst="roundRect">
            <a:avLst>
              <a:gd name="adj" fmla="val 3571"/>
            </a:avLst>
          </a:prstGeom>
          <a:solidFill>
            <a:srgbClr val="E1F5EE"/>
          </a:solidFill>
          <a:ln w="12700">
            <a:solidFill>
              <a:srgbClr val="C5E8D8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887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validado en campo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173736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"Ya tuve experiencia con un sistema, pero no funciono porque varios de mis pacientes no sabian usarlo."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Medico entrevistado, Lima 2026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SeguiMed es diferente: solo el medico cambia su flujo. Los pacientes siguen recibiendo WhatsApp normal — sin apps, sin portales, sin fricciones.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medico no necesita responder mejor. Necesita iniciar el contacto en el momento correcto.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124712"/>
            <a:ext cx="502920" cy="502920"/>
          </a:xfrm>
          <a:prstGeom prst="ellips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63440" y="11247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303520" y="10515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muestra quién necesita contacto hoy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910328" y="1627632"/>
            <a:ext cx="0" cy="384048"/>
          </a:xfrm>
          <a:prstGeom prst="line">
            <a:avLst/>
          </a:prstGeom>
          <a:noFill/>
          <a:ln w="19050">
            <a:solidFill>
              <a:srgbClr val="C5E8D8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4663440" y="2084832"/>
            <a:ext cx="502920" cy="502920"/>
          </a:xfrm>
          <a:prstGeom prst="ellips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63440" y="2084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303520" y="201168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 el mensaje personalizado en español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910328" y="2587752"/>
            <a:ext cx="0" cy="384048"/>
          </a:xfrm>
          <a:prstGeom prst="line">
            <a:avLst/>
          </a:prstGeom>
          <a:noFill/>
          <a:ln w="19050">
            <a:solidFill>
              <a:srgbClr val="C5E8D8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4663440" y="3044952"/>
            <a:ext cx="502920" cy="502920"/>
          </a:xfrm>
          <a:prstGeom prst="ellips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6344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303520" y="297180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de WhatsApp abre con mensaje prellenado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910328" y="3547872"/>
            <a:ext cx="0" cy="384048"/>
          </a:xfrm>
          <a:prstGeom prst="line">
            <a:avLst/>
          </a:prstGeom>
          <a:noFill/>
          <a:ln w="19050">
            <a:solidFill>
              <a:srgbClr val="C5E8D8"/>
            </a:solidFill>
            <a:prstDash val="dash"/>
          </a:ln>
        </p:spPr>
      </p:sp>
      <p:sp>
        <p:nvSpPr>
          <p:cNvPr id="19" name="Shape 16"/>
          <p:cNvSpPr/>
          <p:nvPr/>
        </p:nvSpPr>
        <p:spPr>
          <a:xfrm>
            <a:off x="4663440" y="4005072"/>
            <a:ext cx="502920" cy="502920"/>
          </a:xfrm>
          <a:prstGeom prst="ellips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63440" y="40050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303520" y="393192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 solo toca "Enviar" — 10 segundos total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outputs/seguimed_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8600" y="13716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2860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ahora?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274320" y="960120"/>
            <a:ext cx="85953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6350">
            <a:solidFill>
              <a:srgbClr val="D4E8DF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0698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1069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960120" y="1014984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68,761 médicos en Perú · WhatsApp +90% penetración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60120" y="1353312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canal ya existe — falta la inteligencia encima (CMP, 2024)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74320" y="1792224"/>
            <a:ext cx="85953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6350">
            <a:solidFill>
              <a:srgbClr val="D4E8D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5760" y="19019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5760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60120" y="184708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DeepSeek-V3: $0.001 por mensaje personalizado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60120" y="218541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100x más barato que hace 3 años — escala sin costo marginal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4320" y="2624328"/>
            <a:ext cx="85953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6350">
            <a:solidFill>
              <a:srgbClr val="D4E8D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65760" y="27340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5760" y="2734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960120" y="2679192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Whisper: voz en español casi perfecta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960120" y="3017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pacientes hablando — barrera de adopción eliminada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74320" y="3456432"/>
            <a:ext cx="85953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6350">
            <a:solidFill>
              <a:srgbClr val="D4E8D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65760" y="35661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6576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60120" y="351129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 privada crece +9% anual en Perú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960120" y="3849624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S/.4,600M facturación 2024 — médicos buscan retener pacientes (TMS/Gestión)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274320" y="4288536"/>
            <a:ext cx="85953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6350">
            <a:solidFill>
              <a:srgbClr val="D4E8D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65760" y="43982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65760" y="4398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960120" y="43434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Code: producto funcional en días, no meses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60120" y="468172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barrera de ejecución desapareció — solo founder puede competir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outputs/seguimed_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8600" y="13716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2860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8412480" cy="1051560"/>
          </a:xfrm>
          <a:prstGeom prst="roundRect">
            <a:avLst>
              <a:gd name="adj" fmla="val 10435"/>
            </a:avLst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02920" y="1005840"/>
            <a:ext cx="914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508760" y="100584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$288M/año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3657600" y="100584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independientes en LatAm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~800,000 médicos × $30/mes · Fuente: OPS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14400" y="2240280"/>
            <a:ext cx="7315200" cy="1051560"/>
          </a:xfrm>
          <a:prstGeom prst="roundRect">
            <a:avLst>
              <a:gd name="adj" fmla="val 1043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51560" y="2240280"/>
            <a:ext cx="914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2057400" y="2240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S/.19M/año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4206240" y="2240280"/>
            <a:ext cx="3840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independientes en Perú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~20,000 médicos × S/.79/mes · Fuente: CMP 2024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463040" y="3474720"/>
            <a:ext cx="6217920" cy="1051560"/>
          </a:xfrm>
          <a:prstGeom prst="roundRect">
            <a:avLst>
              <a:gd name="adj" fmla="val 10435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00200" y="3474720"/>
            <a:ext cx="914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606040" y="347472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S/.474K/año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754880" y="347472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 Metropolitana · 12 meses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usuarios × S/.79/mes · Mercado objetivo inicial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74320" y="48006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Colegio Médico del Perú · OPS · TMS/Gestión · INEI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outputs/seguimed_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8600" y="13716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2860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 y Moat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97280"/>
                <a:gridCol w="1188720"/>
                <a:gridCol w="1463040"/>
                <a:gridCol w="1097280"/>
              </a:tblGrid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D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D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D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Doctoralia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D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HubSpot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D2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850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automático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6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850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6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850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Mensajes con 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6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850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6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S/.49-199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850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Gratis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850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Gratis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850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S/.300+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850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S/.500+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850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Disenado para LatAm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6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850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menos de 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6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6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E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/>
          <p:nvPr/>
        </p:nvSpPr>
        <p:spPr>
          <a:xfrm>
            <a:off x="274320" y="475488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Moat: precio + simplicidad extrema + datos propios de patrones LatAm + distribución boca a boca en redes médicas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outputs/seguimed_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8600" y="13716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2860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274320" y="1005840"/>
            <a:ext cx="8595360" cy="594360"/>
          </a:xfrm>
          <a:prstGeom prst="roundRect">
            <a:avLst>
              <a:gd name="adj" fmla="val 15385"/>
            </a:avLst>
          </a:prstGeom>
          <a:solidFill>
            <a:srgbClr val="E1F5EE"/>
          </a:solidFill>
          <a:ln w="12700">
            <a:solidFill>
              <a:srgbClr val="C5E8D8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0058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vivo: seguimed.streamlit.app  |  contrasena: demo1234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274320" y="176479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74320" y="2157984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4 metricas de estado en tiempo real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personalizados por IA en espanol peruano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WhatsApp con mensaje prellenado (1 clic)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por nota de voz: Whisper transcribe + IA extrae datos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Campanas de temporada para toda la base de pacientes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63440" y="1764792"/>
            <a:ext cx="4206240" cy="3063240"/>
          </a:xfrm>
          <a:prstGeom prst="roundRect">
            <a:avLst>
              <a:gd name="adj" fmla="val 3582"/>
            </a:avLst>
          </a:prstGeom>
          <a:solidFill>
            <a:srgbClr val="F8FBF9"/>
          </a:solidFill>
          <a:ln w="12700">
            <a:solidFill>
              <a:srgbClr val="D4E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846320" y="19202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tecnico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846320" y="24231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+ Backend: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132320" y="24231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(Python)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846320" y="280720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132320" y="280720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(PostgreSQL)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846320" y="319125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mensajes: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132320" y="319125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DeepSeek-V3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846320" y="357530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voz: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132320" y="357530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large-v3 (Groq)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846320" y="39593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132320" y="395935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Community Cloud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846320" y="43434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132320" y="43434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(flake8)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outputs/seguimed_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8600" y="13716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2860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Negocio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320040" y="914400"/>
            <a:ext cx="2697480" cy="384048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6350">
            <a:solidFill>
              <a:srgbClr val="D4E8D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411480" y="1051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Basico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11480" y="155448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S/.49</a:t>
            </a:r>
            <a:pPr algn="ctr" indent="0" marL="0">
              <a:buNone/>
            </a:pPr>
            <a:r>
              <a:rPr lang="en-US" sz="13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411480" y="23317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100 pacientes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94360" y="2788920"/>
            <a:ext cx="2148840" cy="0"/>
          </a:xfrm>
          <a:prstGeom prst="line">
            <a:avLst/>
          </a:prstGeom>
          <a:noFill/>
          <a:ln w="6350">
            <a:solidFill>
              <a:srgbClr val="E0F0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28803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Mensajes IA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32918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Links WhatsApp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37033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Dashboard basico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46120" y="914400"/>
            <a:ext cx="2697480" cy="3840480"/>
          </a:xfrm>
          <a:prstGeom prst="roundRect">
            <a:avLst>
              <a:gd name="adj" fmla="val 5085"/>
            </a:avLst>
          </a:prstGeom>
          <a:solidFill>
            <a:srgbClr val="0F6E56"/>
          </a:solidFill>
          <a:ln w="25400">
            <a:solidFill>
              <a:srgbClr val="0F6E5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337560" y="1051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3337560" y="155448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S/.99</a:t>
            </a:r>
            <a:pPr algn="ctr" indent="0" marL="0">
              <a:buNone/>
            </a:pPr>
            <a:r>
              <a:rPr lang="en-US" sz="1300" dirty="0">
                <a:solidFill>
                  <a:srgbClr val="D4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/mes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3337560" y="23317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E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500 pacientes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520440" y="2788920"/>
            <a:ext cx="2148840" cy="0"/>
          </a:xfrm>
          <a:prstGeom prst="line">
            <a:avLst/>
          </a:prstGeom>
          <a:noFill/>
          <a:ln w="6350">
            <a:solidFill>
              <a:srgbClr val="1D9E7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83280" y="28803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Todo Basico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383280" y="32918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Campanas temporada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383280" y="37033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Recordatorios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172200" y="914400"/>
            <a:ext cx="2697480" cy="384048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6350">
            <a:solidFill>
              <a:srgbClr val="D4E8D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263640" y="1051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6263640" y="155448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S/.199</a:t>
            </a:r>
            <a:pPr algn="ctr" indent="0" marL="0">
              <a:buNone/>
            </a:pPr>
            <a:r>
              <a:rPr lang="en-US" sz="13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/mes</a:t>
            </a:r>
            <a:endParaRPr lang="en-US" sz="3400" dirty="0"/>
          </a:p>
        </p:txBody>
      </p:sp>
      <p:sp>
        <p:nvSpPr>
          <p:cNvPr id="23" name="Text 20"/>
          <p:cNvSpPr/>
          <p:nvPr/>
        </p:nvSpPr>
        <p:spPr>
          <a:xfrm>
            <a:off x="6263640" y="23317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 ilimitados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46520" y="2788920"/>
            <a:ext cx="2148840" cy="0"/>
          </a:xfrm>
          <a:prstGeom prst="line">
            <a:avLst/>
          </a:prstGeom>
          <a:noFill/>
          <a:ln w="6350">
            <a:solidFill>
              <a:srgbClr val="E0F0E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309360" y="28803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Todo Pro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309360" y="32918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Multiples usuarios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309360" y="37033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Soporte prioritario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margin: ~99%   |   Costo variable: S/.0.50/usuario/mes   |   Payback: Mes 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outputs/seguimed_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8600" y="13716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2860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274320" y="1005840"/>
            <a:ext cx="2743200" cy="3840480"/>
          </a:xfrm>
          <a:prstGeom prst="roundRect">
            <a:avLst>
              <a:gd name="adj" fmla="val 5000"/>
            </a:avLst>
          </a:prstGeom>
          <a:solidFill>
            <a:srgbClr val="E1F5EE"/>
          </a:solidFill>
          <a:ln w="12700">
            <a:solidFill>
              <a:srgbClr val="C5E8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3017520" y="2011680"/>
            <a:ext cx="457200" cy="0"/>
          </a:xfrm>
          <a:prstGeom prst="line">
            <a:avLst/>
          </a:prstGeom>
          <a:noFill/>
          <a:ln w="25400">
            <a:solidFill>
              <a:srgbClr val="EF9F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10972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365760" y="19659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24688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directa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292608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5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Medico familiar (beta piloto)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5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colegas referidos.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5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persona, 5 minutos.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00400" y="1005840"/>
            <a:ext cx="2743200" cy="3840480"/>
          </a:xfrm>
          <a:prstGeom prst="roundRect">
            <a:avLst>
              <a:gd name="adj" fmla="val 5000"/>
            </a:avLst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943600" y="2011680"/>
            <a:ext cx="457200" cy="0"/>
          </a:xfrm>
          <a:prstGeom prst="line">
            <a:avLst/>
          </a:prstGeom>
          <a:noFill/>
          <a:ln w="25400">
            <a:solidFill>
              <a:srgbClr val="EF9F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91840" y="10972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3291840" y="19659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E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291840" y="24688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Comunidades medicas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383280" y="292608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WhatsApp de medicos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independientes Lima.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del CMP.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1005840"/>
            <a:ext cx="2743200" cy="3840480"/>
          </a:xfrm>
          <a:prstGeom prst="roundRect">
            <a:avLst>
              <a:gd name="adj" fmla="val 5000"/>
            </a:avLst>
          </a:prstGeom>
          <a:solidFill>
            <a:srgbClr val="E1F5EE"/>
          </a:solidFill>
          <a:ln w="12700">
            <a:solidFill>
              <a:srgbClr val="C5E8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217920" y="10972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</a:t>
            </a:r>
            <a:endParaRPr lang="en-US" sz="4400" dirty="0"/>
          </a:p>
        </p:txBody>
      </p:sp>
      <p:sp>
        <p:nvSpPr>
          <p:cNvPr id="18" name="Text 15"/>
          <p:cNvSpPr/>
          <p:nvPr/>
        </p:nvSpPr>
        <p:spPr>
          <a:xfrm>
            <a:off x="6217920" y="19659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17920" y="24688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Escalamiento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309360" y="292608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5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Alianzas con distribuidores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5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medicos.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5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Nutricion, dermatologia, psicologia.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outputs/seguimed_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8600" y="13716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2860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Traccion y Roadmap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274320" y="960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Senales tempranas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274320" y="1417320"/>
            <a:ext cx="41148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D4E8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14173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Demo desplegado y funcional: seguimed.streamlit.app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74320" y="2057400"/>
            <a:ext cx="41148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D4E8D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20574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5 entrevistas completadas con medicos independientes Lima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74320" y="2697480"/>
            <a:ext cx="41148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D4E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" y="26974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3/5 medicos confirmaron haber perdido pacientes activamente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74320" y="3337560"/>
            <a:ext cx="41148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D4E8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" y="33375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Precio validado: S/.50/mes mencionado espontaneamente (E5)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74320" y="3977640"/>
            <a:ext cx="41148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D4E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5760" y="39776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Plan Basico S/.49/mes confirmado por demanda real de campo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754880" y="960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754880" y="1490472"/>
            <a:ext cx="502920" cy="502920"/>
          </a:xfrm>
          <a:prstGeom prst="ellipse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001768" y="1993392"/>
            <a:ext cx="0" cy="539496"/>
          </a:xfrm>
          <a:prstGeom prst="line">
            <a:avLst/>
          </a:prstGeom>
          <a:noFill/>
          <a:ln w="19050">
            <a:solidFill>
              <a:srgbClr val="C5E8D8"/>
            </a:solidFill>
            <a:prstDash val="dash"/>
          </a:ln>
        </p:spPr>
      </p:sp>
      <p:sp>
        <p:nvSpPr>
          <p:cNvPr id="18" name="Text 15"/>
          <p:cNvSpPr/>
          <p:nvPr/>
        </p:nvSpPr>
        <p:spPr>
          <a:xfrm>
            <a:off x="5394960" y="14630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meses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394960" y="176479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usuarios pagos · WhatsApp Business API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54880" y="2606040"/>
            <a:ext cx="502920" cy="50292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001768" y="3108960"/>
            <a:ext cx="0" cy="539496"/>
          </a:xfrm>
          <a:prstGeom prst="line">
            <a:avLst/>
          </a:prstGeom>
          <a:noFill/>
          <a:ln w="19050">
            <a:solidFill>
              <a:srgbClr val="C5E8D8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5394960" y="25786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meses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394960" y="28803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usuarios · App movil · Modulo de agenda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754880" y="3721608"/>
            <a:ext cx="502920" cy="502920"/>
          </a:xfrm>
          <a:prstGeom prst="ellips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94960" y="36941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meses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394960" y="39959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usuarios · Colombia y Chile · Fine-tuning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371600" y="100584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S/.50,000</a:t>
            </a:r>
            <a:endParaRPr lang="en-US" sz="7600" dirty="0"/>
          </a:p>
        </p:txBody>
      </p:sp>
      <p:sp>
        <p:nvSpPr>
          <p:cNvPr id="4" name="Text 2"/>
          <p:cNvSpPr/>
          <p:nvPr/>
        </p:nvSpPr>
        <p:spPr>
          <a:xfrm>
            <a:off x="1371600" y="22402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6 meses de runway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278892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5440"/>
          </a:solidFill>
          <a:ln w="6350">
            <a:solidFill>
              <a:srgbClr val="1D9E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8803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S/.20,000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4290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E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directo a medicos independientes en Lima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278892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5440"/>
          </a:solidFill>
          <a:ln w="6350">
            <a:solidFill>
              <a:srgbClr val="1D9E7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28803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S/.15,000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91840" y="34290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E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Integracion WhatsApp Business API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278892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5440"/>
          </a:solidFill>
          <a:ln w="6350">
            <a:solidFill>
              <a:srgbClr val="1D9E7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28803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S/.15,000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126480" y="34290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E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Operaciones, soporte y legal basico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EC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Milestone: 200 usuarios pagos con churn menor al 5% mensual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SeguiMed — Pitch Deck</dc:title>
  <dc:subject>PptxGenJS Presentation</dc:subject>
  <dc:creator>Mayra Otiniano Alvarado</dc:creator>
  <cp:lastModifiedBy>Mayra Otiniano Alvarado</cp:lastModifiedBy>
  <cp:revision>1</cp:revision>
  <dcterms:created xsi:type="dcterms:W3CDTF">2026-06-23T03:32:05Z</dcterms:created>
  <dcterms:modified xsi:type="dcterms:W3CDTF">2026-06-23T03:32:05Z</dcterms:modified>
</cp:coreProperties>
</file>