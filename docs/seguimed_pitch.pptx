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</a:t>
            </a:r>
            <a:pPr algn="ctr" indent="0" marL="0">
              <a:buNone/>
            </a:pPr>
            <a:r>
              <a:rPr lang="en-US" sz="6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1371600" y="3154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REVOLUCIONANDO EL SEGUIMIENTO MÉDICO DIGITAL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3703320"/>
            <a:ext cx="8046720" cy="914400"/>
          </a:xfrm>
          <a:prstGeom prst="roundRect">
            <a:avLst>
              <a:gd name="adj" fmla="val 15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73075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inteligente para médicos independientes en LatAm que automatiza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de pacientes por WhatsApp con 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Founder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74320" y="1005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Mayra Otiniano Alvarado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1508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Pacífico — Data Science con Python 2026-I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github.com/MayraOA  ·  seguimed.streamlit.app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yo?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25146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al segmento: familiar médico independiente en Lima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en LLMs, agentes de IA, OCR y despliegue en la nube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completo construido y desplegado en 11 días como solo founder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91440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6350">
            <a:solidFill>
              <a:srgbClr val="C5E8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97880" y="1005840"/>
            <a:ext cx="457200" cy="347472"/>
          </a:xfrm>
          <a:prstGeom prst="roundRect">
            <a:avLst>
              <a:gd name="adj" fmla="val 1842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005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CTO virtual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91440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6350">
            <a:solidFill>
              <a:srgbClr val="C5E8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06640" y="1005840"/>
            <a:ext cx="457200" cy="347472"/>
          </a:xfrm>
          <a:prstGeom prst="roundRect">
            <a:avLst>
              <a:gd name="adj" fmla="val 1842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1005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0" y="1828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+ Whisper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stack IA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06440" y="274320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6350">
            <a:solidFill>
              <a:srgbClr val="C5E8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97880" y="2834640"/>
            <a:ext cx="457200" cy="347472"/>
          </a:xfrm>
          <a:prstGeom prst="roundRect">
            <a:avLst>
              <a:gd name="adj" fmla="val 1842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0644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0644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teal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ámbar propio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15200" y="274320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6350">
            <a:solidFill>
              <a:srgbClr val="C5E8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06640" y="2834640"/>
            <a:ext cx="457200" cy="347472"/>
          </a:xfrm>
          <a:prstGeom prst="roundRect">
            <a:avLst>
              <a:gd name="adj" fmla="val 1842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médica directa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familiar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ctr" indent="0" marL="0">
              <a:buNone/>
            </a:pPr>
            <a:r>
              <a:rPr lang="en-US" sz="4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11480" y="1097280"/>
            <a:ext cx="2560320" cy="365760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5840" y="1325880"/>
            <a:ext cx="1371600" cy="1097280"/>
          </a:xfrm>
          <a:prstGeom prst="roundRect">
            <a:avLst>
              <a:gd name="adj" fmla="val 11667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325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0292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perdieron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entrevistas directas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365760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86200" y="1325880"/>
            <a:ext cx="1371600" cy="1097280"/>
          </a:xfrm>
          <a:prstGeom prst="roundRect">
            <a:avLst>
              <a:gd name="adj" fmla="val 11667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86200" y="1325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38328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mensajes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no los pierde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este costo en tiempo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097280"/>
            <a:ext cx="2560320" cy="365760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66560" y="1325880"/>
            <a:ext cx="1371600" cy="1097280"/>
          </a:xfrm>
          <a:prstGeom prst="roundRect">
            <a:avLst>
              <a:gd name="adj" fmla="val 11667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1325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26364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con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dedicado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Gmail, memoria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simplemente nada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que no respondan — todos responden. El problema es que nadie inicia el contacto cuando el paciente desaparece.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e Insight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100584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E1F5EE"/>
          </a:solidFill>
          <a:ln w="12700">
            <a:solidFill>
              <a:srgbClr val="C5E8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validado en campo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 tuve experiencia con un sistema, pero no funciono porque varios de mis pacientes no sabian usarlo."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Medico entrevistado, Lima 2026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SeguiMed es diferente: solo el medico cambia su flujo. Los pacientes siguen recibiendo WhatsApp normal — sin apps, sin portales, sin fricciones.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medico no necesita responder mejor. Necesita iniciar el contacto en el momento correcto.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124712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03520" y="10515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muestra quién necesita contacto hoy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10328" y="1627632"/>
            <a:ext cx="0" cy="384048"/>
          </a:xfrm>
          <a:prstGeom prst="line">
            <a:avLst/>
          </a:prstGeom>
          <a:noFill/>
          <a:ln w="19050">
            <a:solidFill>
              <a:srgbClr val="C5E8D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663440" y="2084832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03520" y="20116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 el mensaje personalizado en español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10328" y="2587752"/>
            <a:ext cx="0" cy="384048"/>
          </a:xfrm>
          <a:prstGeom prst="line">
            <a:avLst/>
          </a:prstGeom>
          <a:noFill/>
          <a:ln w="19050">
            <a:solidFill>
              <a:srgbClr val="C5E8D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663440" y="3044952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3520" y="29718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 WhatsApp abre con mensaje prellenado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910328" y="3547872"/>
            <a:ext cx="0" cy="384048"/>
          </a:xfrm>
          <a:prstGeom prst="line">
            <a:avLst/>
          </a:prstGeom>
          <a:noFill/>
          <a:ln w="19050">
            <a:solidFill>
              <a:srgbClr val="C5E8D8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4663440" y="4005072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3520" y="39319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 toca "Enviar" — 10 segundos total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ahora?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698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0149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68,761 médicos en Perú · WhatsApp +90% penetración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353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ya existe — falta la inteligencia encima (CMP, 2024)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792224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18470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DeepSeek-V3: $0.001 por mensaje personalizado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1854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más barato que hace 3 años — escala sin costo marginal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624328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7340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679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Whisper: voz en español casi perfecta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pacientes hablando — barrera de adopción eliminada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456432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" y="35112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privada crece +9% anual en Perú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38496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S/.4,600M facturación 2024 — médicos buscan retener pacientes (TMS/Gestión)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4288536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43982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6012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producto funcional en días, no meses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0120" y="4681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barrera de ejecución desapareció — solo founder puede competir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8412480" cy="1051560"/>
          </a:xfrm>
          <a:prstGeom prst="roundRect">
            <a:avLst>
              <a:gd name="adj" fmla="val 10435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058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08760" y="10058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$288M/año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0" y="1005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independientes en LatAm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~800,000 médicos × $30/mes · Fuente: OPS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24028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4028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057400" y="22402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S/.19M/año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206240" y="2240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independientes en Perú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 médicos × S/.79/mes · Fuente: CMP 2024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63040" y="3474720"/>
            <a:ext cx="6217920" cy="1051560"/>
          </a:xfrm>
          <a:prstGeom prst="roundRect">
            <a:avLst>
              <a:gd name="adj" fmla="val 10435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34747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606040" y="34747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S/.474K/año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54880" y="34747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Metropolitana · 12 meses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usuarios × S/.79/mes · Mercado objetivo inicial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Colegio Médico del Perú · OPS · TMS/Gestión · INEI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y Moat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188720"/>
                <a:gridCol w="1463040"/>
                <a:gridCol w="109728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D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D2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automático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Mensajes con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S/.49-199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S/.300+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S/.500+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Disenado para LatAm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menos de 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precio + simplicidad extrema + datos propios de patrones LatAm + distribución boca a boca en redes médicas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100584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E1F5EE"/>
          </a:solidFill>
          <a:ln w="12700">
            <a:solidFill>
              <a:srgbClr val="C5E8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seguimed.streamlit.app  |  contrasena: demo1234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1764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2157984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4 metricas de estado en tiempo real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IA personalizados en espanol (DeepSeek-V3)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WhatsApp prellenados — medico solo toca Enviar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 de voz en tiempo real (Whisper + IA extrae datos)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de citas y contactos por paciente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Google Calendar para citas pasadas y futuras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764792"/>
            <a:ext cx="4206240" cy="3063240"/>
          </a:xfrm>
          <a:prstGeom prst="roundRect">
            <a:avLst>
              <a:gd name="adj" fmla="val 3582"/>
            </a:avLst>
          </a:prstGeom>
          <a:solidFill>
            <a:srgbClr val="F8FBF9"/>
          </a:solidFill>
          <a:ln w="12700">
            <a:solidFill>
              <a:srgbClr val="D4E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tecnico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2423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2807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0" y="2807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191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mensajes: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31912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575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voz: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0" y="3575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 (Groq)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3959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3959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4343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32320" y="4343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(flake8)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20040" y="914400"/>
            <a:ext cx="2697480" cy="3840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11480" y="1051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4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S/.49</a:t>
            </a:r>
            <a:pPr algn="ctr" indent="0" marL="0">
              <a:buNone/>
            </a:pPr>
            <a:r>
              <a:rPr lang="en-US" sz="13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1148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100 pacientes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" y="2788920"/>
            <a:ext cx="2148840" cy="0"/>
          </a:xfrm>
          <a:prstGeom prst="line">
            <a:avLst/>
          </a:prstGeom>
          <a:noFill/>
          <a:ln w="6350">
            <a:solidFill>
              <a:srgbClr val="E0F0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Mensajes 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Links WhatsApp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Dashboard basico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914400"/>
            <a:ext cx="2697480" cy="3840480"/>
          </a:xfrm>
          <a:prstGeom prst="roundRect">
            <a:avLst>
              <a:gd name="adj" fmla="val 5085"/>
            </a:avLst>
          </a:prstGeom>
          <a:solidFill>
            <a:srgbClr val="0F6E56"/>
          </a:solidFill>
          <a:ln w="254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37560" y="1051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3756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S/.99</a:t>
            </a:r>
            <a:pPr algn="ctr" indent="0" marL="0">
              <a:buNone/>
            </a:pPr>
            <a:r>
              <a:rPr lang="en-US" sz="1300" dirty="0">
                <a:solidFill>
                  <a:srgbClr val="D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33756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500 pacientes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2788920"/>
            <a:ext cx="214884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Todo Basico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8328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Campanas temporada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8328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Recordatorios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914400"/>
            <a:ext cx="2697480" cy="3840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63640" y="1051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6364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S/.199</a:t>
            </a:r>
            <a:pPr algn="ctr" indent="0" marL="0">
              <a:buNone/>
            </a:pPr>
            <a:r>
              <a:rPr lang="en-US" sz="13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626364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ilimitados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46520" y="2788920"/>
            <a:ext cx="2148840" cy="0"/>
          </a:xfrm>
          <a:prstGeom prst="line">
            <a:avLst/>
          </a:prstGeom>
          <a:noFill/>
          <a:ln w="6350">
            <a:solidFill>
              <a:srgbClr val="E0F0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Todo Pro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0936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Multiples usuarios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0936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Soporte prioritario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margin: ~99%   |   Costo variable: S/.0.50/usuario/mes   |   Payback: Mes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274320" y="10058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C5E8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017520" y="2011680"/>
            <a:ext cx="457200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directa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 familiar (beta piloto)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colegas referidos.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persona, 5 minutos.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011680"/>
            <a:ext cx="457200" cy="0"/>
          </a:xfrm>
          <a:prstGeom prst="line">
            <a:avLst/>
          </a:prstGeom>
          <a:noFill/>
          <a:ln w="25400">
            <a:solidFill>
              <a:srgbClr val="EF9F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medicas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WhatsApp de medicos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 Lima.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del CMP.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0058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C5E8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621792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con distribuidores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medicos.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5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Nutricion, dermatologia, psicologia.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seguimed_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Traccion y Roadmap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Senales tempranas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41732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417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Demo desplegado y funcional: seguimed.streamlit.app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20574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5 entrevistas completadas con medicos independientes Lima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6974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697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3/5 medicos confirmaron haber perdido pacientes activamente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33375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337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Precio validado: S/.50/mes mencionado espontaneamente (E5)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9776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D4E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Plan Basico S/.49/mes confirmado por demanda real de campo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54880" y="1490472"/>
            <a:ext cx="502920" cy="50292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01768" y="1993392"/>
            <a:ext cx="0" cy="539496"/>
          </a:xfrm>
          <a:prstGeom prst="line">
            <a:avLst/>
          </a:prstGeom>
          <a:noFill/>
          <a:ln w="19050">
            <a:solidFill>
              <a:srgbClr val="C5E8D8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539496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94960" y="1764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usuarios pagos · WhatsApp Business API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26060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01768" y="3108960"/>
            <a:ext cx="0" cy="539496"/>
          </a:xfrm>
          <a:prstGeom prst="line">
            <a:avLst/>
          </a:prstGeom>
          <a:noFill/>
          <a:ln w="19050">
            <a:solidFill>
              <a:srgbClr val="C5E8D8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394960" y="2578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9496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usuarios · App movil · Modulo de agenda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3721608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3694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94960" y="39959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usuarios · Colombia y Chile · Fine-tuning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10058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S/.50,000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1371600" y="22402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6 meses de runway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544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S/.20,000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directo a medicos independientes en Lima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544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S/.15,000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WhatsApp Business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5440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S/.15,000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Operaciones, soporte y legal basico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E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200 usuarios pagos con churn menor al 5% mensual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SeguiMed — Pitch Deck</dc:title>
  <dc:subject>PptxGenJS Presentation</dc:subject>
  <dc:creator>Mayra Otiniano Alvarado</dc:creator>
  <cp:lastModifiedBy>Mayra Otiniano Alvarado</cp:lastModifiedBy>
  <cp:revision>1</cp:revision>
  <dcterms:created xsi:type="dcterms:W3CDTF">2026-06-24T01:43:15Z</dcterms:created>
  <dcterms:modified xsi:type="dcterms:W3CDTF">2026-06-24T01:43:15Z</dcterms:modified>
</cp:coreProperties>
</file>